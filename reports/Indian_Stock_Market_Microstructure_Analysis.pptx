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8" y="-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Elbow Method (illustrative example)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 (illustrative)</c:v>
                </c:pt>
              </c:strCache>
            </c:strRef>
          </c:tx>
          <c:spPr>
            <a:ln w="25400" cap="flat">
              <a:solidFill>
                <a:srgbClr val="C9971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971F"/>
              </a:solidFill>
              <a:ln w="9525" cap="flat">
                <a:solidFill>
                  <a:srgbClr val="C9971F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62</c:v>
                </c:pt>
                <c:pt idx="2">
                  <c:v>45</c:v>
                </c:pt>
                <c:pt idx="3">
                  <c:v>36</c:v>
                </c:pt>
                <c:pt idx="4">
                  <c:v>30</c:v>
                </c:pt>
                <c:pt idx="5">
                  <c:v>26</c:v>
                </c:pt>
                <c:pt idx="6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BB-4317-80DF-D1ACF12D9A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000000"/>
                    </a:solidFill>
                    <a:latin typeface="Arial"/>
                  </a:rPr>
                  <a:t>K (clusters)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Silhouette Score (illustrative example)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(illustrative)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0.42</c:v>
                </c:pt>
                <c:pt idx="1">
                  <c:v>0.51</c:v>
                </c:pt>
                <c:pt idx="2">
                  <c:v>0.38</c:v>
                </c:pt>
                <c:pt idx="3">
                  <c:v>0.33</c:v>
                </c:pt>
                <c:pt idx="4">
                  <c:v>0.3</c:v>
                </c:pt>
                <c:pt idx="5">
                  <c:v>0.28000000000000003</c:v>
                </c:pt>
                <c:pt idx="6">
                  <c:v>0.26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9D-4F2D-B2D8-8993E5C079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000000"/>
                    </a:solidFill>
                    <a:latin typeface="Arial"/>
                  </a:rPr>
                  <a:t>K (clusters)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222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108960" cy="310896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- @NaviotechSolution </a:t>
            </a:r>
            <a:r>
              <a:rPr lang="en-US" sz="1400" b="1" kern="0" spc="300" dirty="0" err="1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Pvt.Ltd</a:t>
            </a:r>
            <a:r>
              <a:rPr lang="en-US" sz="1400" b="1" kern="0" spc="30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 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Stock Market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Microstructure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Study of Return, Volatility, Volume, and Market Regimes in NIFTY 50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4892040"/>
            <a:ext cx="1463040" cy="0"/>
          </a:xfrm>
          <a:prstGeom prst="line">
            <a:avLst/>
          </a:prstGeom>
          <a:noFill/>
          <a:ln w="25400">
            <a:solidFill>
              <a:srgbClr val="C997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402424"/>
            <a:ext cx="7315200" cy="3825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Anushka Rajdev         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Asane 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Samridhi Awasthi</a:t>
            </a:r>
          </a:p>
          <a:p>
            <a:pPr marL="228600" indent="-228600">
              <a:buFontTx/>
              <a:buAutoNum type="arabicPeriod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</a:t>
            </a: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Jadaun</a:t>
            </a:r>
            <a:endParaRPr lang="en-US" sz="12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 Kajal Patel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3990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457200" cy="457200"/>
          </a:xfrm>
          <a:prstGeom prst="ellipse">
            <a:avLst/>
          </a:prstGeom>
          <a:solidFill>
            <a:srgbClr val="C9971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02082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Microstructure — The Core Concept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6609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6426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C9971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2644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Highlights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904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rgbClr val="C9971F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13990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309360" y="2039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02082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— Market Regimes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309360" y="2660904"/>
            <a:ext cx="457200" cy="457200"/>
          </a:xfrm>
          <a:prstGeom prst="ellipse">
            <a:avLst/>
          </a:prstGeom>
          <a:solidFill>
            <a:srgbClr val="C9971F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26426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Validation &amp; Evaluation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309360" y="32826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32644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Insights, Limitations &amp; Future Scope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Stock Market Microstructure Analysis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4709160"/>
          </a:xfrm>
          <a:prstGeom prst="rect">
            <a:avLst/>
          </a:prstGeom>
          <a:solidFill>
            <a:srgbClr val="E8EF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Retail-accessible research on Indian markets rarely goes beyond simple technical-analysis narratives. There is little beginner-oriented, statistically rigorous, reproducible analysis of how volume, volatility, and price behavior interact — or of whether the market moves through distinct, discoverable “regimes.”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264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Objectives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384048" cy="384048"/>
          </a:xfrm>
          <a:prstGeom prst="ellipse">
            <a:avLst/>
          </a:prstGeom>
          <a:solidFill>
            <a:srgbClr val="C9971F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191109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return, volatility &amp; volume behavior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26480" y="2807208"/>
            <a:ext cx="384048" cy="384048"/>
          </a:xfrm>
          <a:prstGeom prst="ellipse">
            <a:avLst/>
          </a:prstGeom>
          <a:solidFill>
            <a:srgbClr val="C9971F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275234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test the volume–volatility relationship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26480" y="3648456"/>
            <a:ext cx="384048" cy="384048"/>
          </a:xfrm>
          <a:prstGeom prst="ellipse">
            <a:avLst/>
          </a:prstGeom>
          <a:solidFill>
            <a:srgbClr val="C9971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3648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359359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 describing daily market behavior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26480" y="4489704"/>
            <a:ext cx="384048" cy="384048"/>
          </a:xfrm>
          <a:prstGeom prst="ellipse">
            <a:avLst/>
          </a:prstGeom>
          <a:solidFill>
            <a:srgbClr val="C9971F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4489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44348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market regimes via clustering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26480" y="5330952"/>
            <a:ext cx="384048" cy="384048"/>
          </a:xfrm>
          <a:prstGeom prst="ellipse">
            <a:avLst/>
          </a:prstGeom>
          <a:solidFill>
            <a:srgbClr val="C9971F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5330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527608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regimes with supervised learning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Stock Market Microstructure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Market Microstructure?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how investors’ latent demand becomes actual trades — and how that process shapes prices, volatility, and liquidity.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688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26664" y="3017520"/>
            <a:ext cx="393192" cy="27432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246888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C9971F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4688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15584" y="3017520"/>
            <a:ext cx="393192" cy="27432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246888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4688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04504" y="3017520"/>
            <a:ext cx="393192" cy="27432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4" name="Shape 12"/>
          <p:cNvSpPr/>
          <p:nvPr/>
        </p:nvSpPr>
        <p:spPr>
          <a:xfrm>
            <a:off x="9052560" y="246888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C9971F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24688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&amp;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2976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microstructure research uses tick-by-tick order-book data. This project uses daily OHLCV data as a simplified, accessible proxy — still enough to reveal volatility clustering, volume–volatility links, and distinct market regimes.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Stock Market Microstructure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212080" cy="22860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Yahoo Finance, via the yfinance Python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[TICKER — e.g., NIFTY 50 / ^NSEI]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[START_DATE] to [END_DATE]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/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— Open, High, Low, Close, Adj Close, 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Pipeline</a:t>
            </a:r>
            <a:endParaRPr lang="en-US" sz="1500" dirty="0"/>
          </a:p>
        </p:txBody>
      </p:sp>
      <p:sp>
        <p:nvSpPr>
          <p:cNvPr id="4" name="Shape 3"/>
          <p:cNvSpPr/>
          <p:nvPr/>
        </p:nvSpPr>
        <p:spPr>
          <a:xfrm>
            <a:off x="6126480" y="18745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18745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Clean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909560" y="18745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18745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(EDA)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692640" y="18745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9692640" y="187452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Engineer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2953512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C9971F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0" y="2953512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09560" y="2953512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C9971F"/>
          </a:solidFill>
          <a:ln/>
        </p:spPr>
      </p:sp>
      <p:sp>
        <p:nvSpPr>
          <p:cNvPr id="15" name="Text 12"/>
          <p:cNvSpPr/>
          <p:nvPr/>
        </p:nvSpPr>
        <p:spPr>
          <a:xfrm>
            <a:off x="7909560" y="2953512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Cluster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692640" y="2953512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C9971F"/>
          </a:solidFill>
          <a:ln/>
        </p:spPr>
      </p:sp>
      <p:sp>
        <p:nvSpPr>
          <p:cNvPr id="17" name="Text 14"/>
          <p:cNvSpPr/>
          <p:nvPr/>
        </p:nvSpPr>
        <p:spPr>
          <a:xfrm>
            <a:off x="9692640" y="2953512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Validate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5806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are descriptive and historical. This project does not forecast prices or propose a trading strategy.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Stock Market Microstructure Analysis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Key Themes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E8EFFC"/>
          </a:solidFill>
          <a:ln/>
        </p:spPr>
      </p:sp>
      <p:sp>
        <p:nvSpPr>
          <p:cNvPr id="5" name="Shape 3"/>
          <p:cNvSpPr/>
          <p:nvPr/>
        </p:nvSpPr>
        <p:spPr>
          <a:xfrm>
            <a:off x="187452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 Tails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 cluster near 0%, but extreme days occur more often than a Normal distribution predicts.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5544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E8EFFC"/>
          </a:solidFill>
          <a:ln/>
        </p:spPr>
      </p:sp>
      <p:sp>
        <p:nvSpPr>
          <p:cNvPr id="10" name="Shape 8"/>
          <p:cNvSpPr/>
          <p:nvPr/>
        </p:nvSpPr>
        <p:spPr>
          <a:xfrm>
            <a:off x="5577840" y="1874520"/>
            <a:ext cx="731520" cy="731520"/>
          </a:xfrm>
          <a:prstGeom prst="ellipse">
            <a:avLst/>
          </a:prstGeom>
          <a:solidFill>
            <a:srgbClr val="C9971F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8056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Clustering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32918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and turbulent periods each tend to persist in stretches, rather than being randomly scattered.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E8EF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28116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28116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8388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Skewed Volume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329184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volume is right-skewed — a small number of days show unusually high activity.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charts (time series, distributions, boxplots, correlation heatmap, volume/return/volatility/moving-average analysis) are in the companion notebook.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Stock Market Microstructure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Fourteen behavioral features were engineered from cleaned OHLCV data to describe each trading day — the input to clustering.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06624" y="21488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C9971F"/>
          </a:solidFill>
          <a:ln/>
        </p:spPr>
      </p:sp>
      <p:sp>
        <p:nvSpPr>
          <p:cNvPr id="8" name="Text 6"/>
          <p:cNvSpPr/>
          <p:nvPr/>
        </p:nvSpPr>
        <p:spPr>
          <a:xfrm>
            <a:off x="2706624" y="2148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64608" y="21488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2148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(₹ &amp; %)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22592" y="21488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022592" y="2148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 (20d)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80576" y="21488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C9971F"/>
          </a:solidFill>
          <a:ln/>
        </p:spPr>
      </p:sp>
      <p:sp>
        <p:nvSpPr>
          <p:cNvPr id="14" name="Text 12"/>
          <p:cNvSpPr/>
          <p:nvPr/>
        </p:nvSpPr>
        <p:spPr>
          <a:xfrm>
            <a:off x="9180576" y="2148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Std (20d)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00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(21d)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06624" y="32004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2706624" y="3200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Avg 20 / 50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64608" y="32004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C9971F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3200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Lags (1-3d)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22592" y="32004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7022592" y="3200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Lag (1d)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80576" y="32004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180576" y="3200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(14d)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806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are standardized before clustering, since raw scales differ enormously (e.g., a return of 0.01 vs. an MA in the thousands).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Stock Market Microstructure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trading volume relate to the size of price movement? Three complementary tests examine this (α = 0.05).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0789920" cy="22677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H₀ (Null Hypothesis)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(fill 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|return| equal for high vs. low volume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[...], p = [...]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|return| equal across volume tertiles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[...], p = [...]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Correlation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correlation (Volume, |Return|) =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[...], p = [...]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0789920" cy="1280160"/>
          </a:xfrm>
          <a:prstGeom prst="roundRect">
            <a:avLst>
              <a:gd name="adj" fmla="val 5714"/>
            </a:avLst>
          </a:prstGeom>
          <a:solidFill>
            <a:srgbClr val="E8EFF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02920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statistical significance ≠ practical importance. With thousands of trading days, even a small correlation can be “significant” — always report both the effect size and the p-value together.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Stock Market Microstructure Analysis</a:t>
            </a:r>
            <a:endParaRPr lang="en-US" sz="900" dirty="0"/>
          </a:p>
        </p:txBody>
      </p:sp>
      <p:sp>
        <p:nvSpPr>
          <p:cNvPr id="5" name="Text 6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standardized, then K is chosen using the Elbow Method and Silhouette Score before fitting KMeans and Hierarchical Clustering.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57400"/>
          <a:ext cx="52120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035040" y="2057400"/>
          <a:ext cx="52120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806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above show illustrative example curves. Replace with your actual Elbow/Silhouette output once the notebook runs on live data — the optimal K depends entirely on your dataset.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Stock Market Microstructure Analysis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Results — Market Regimes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383280" cy="3657600"/>
          </a:xfrm>
          <a:prstGeom prst="roundRect">
            <a:avLst>
              <a:gd name="adj" fmla="val 2162"/>
            </a:avLst>
          </a:prstGeom>
          <a:solidFill>
            <a:srgbClr val="E8EF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33832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[Regime 0]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 / Trending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volatility, small price range, steady moving averages, RSI near 50.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508760"/>
            <a:ext cx="3383280" cy="3657600"/>
          </a:xfrm>
          <a:prstGeom prst="roundRect">
            <a:avLst>
              <a:gd name="adj" fmla="val 2162"/>
            </a:avLst>
          </a:prstGeom>
          <a:solidFill>
            <a:srgbClr val="E8EFFC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1508760"/>
            <a:ext cx="3383280" cy="502920"/>
          </a:xfrm>
          <a:prstGeom prst="rect">
            <a:avLst/>
          </a:prstGeom>
          <a:solidFill>
            <a:srgbClr val="C9971F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508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[Regime 1]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Turbulent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88036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volatility, wide price range, RSI near extremes.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508760"/>
            <a:ext cx="3383280" cy="3657600"/>
          </a:xfrm>
          <a:prstGeom prst="roundRect">
            <a:avLst>
              <a:gd name="adj" fmla="val 2162"/>
            </a:avLst>
          </a:prstGeom>
          <a:solidFill>
            <a:srgbClr val="E8EF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5280" y="1508760"/>
            <a:ext cx="3383280" cy="5029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1508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[Regime 2]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8388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[Fill in if K ≥ 3]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288036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characteristic feature profile once clustering is run]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= [K]  •  Silhouette Score = [value]  •  KMeans vs. Hierarchical agreement = [strong / moderate / weak]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Stock Market Microstructure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Validation &amp;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predicts each day’s regime from same-day features — validating regime consistency, not forecasting the future.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1343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9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[X]%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1488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231343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9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[Y]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43484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Macro-Avg F1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92440" y="21488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231343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9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[e.g., MA20]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09244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0789920" cy="1691640"/>
          </a:xfrm>
          <a:prstGeom prst="roundRect">
            <a:avLst>
              <a:gd name="adj" fmla="val 4324"/>
            </a:avLst>
          </a:prstGeom>
          <a:solidFill>
            <a:srgbClr val="E8EF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5196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chronological (non-shuffled) train/test split, respecting the time-ordered nature of the data. Metrics: accuracy, confusion matrix, and per-class precision/recall/F1 (via classification_report), since balanced multi-class performance matters more than accuracy alone.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Stock Market Microstructure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8EF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2763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Behavior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show fat tails and volatility clustering — extreme days are more frequent and more “bunched” than a simple model would predict.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4630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8EFFC"/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463040"/>
            <a:ext cx="109728" cy="1965960"/>
          </a:xfrm>
          <a:prstGeom prst="rect">
            <a:avLst/>
          </a:prstGeom>
          <a:solidFill>
            <a:srgbClr val="C9971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62763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&amp; Volatility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084832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whether the volume–volatility relationship was significant, and how large the effect was in practice.]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8EFF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703320"/>
            <a:ext cx="109728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6791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Regimes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325112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[K] distinct regimes were identified and cross-validated across two clustering methods.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37033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E8EF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3703320"/>
            <a:ext cx="109728" cy="1965960"/>
          </a:xfrm>
          <a:prstGeom prst="rect">
            <a:avLst/>
          </a:prstGeom>
          <a:solidFill>
            <a:srgbClr val="C9971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86791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Consistency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4325112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classifier reproduced regime labels with [X]% accuracy — regimes have clean, learnable boundaries.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Stock Market Microstructure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C997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25880" y="1490472"/>
            <a:ext cx="9601200" cy="822960"/>
          </a:xfrm>
          <a:prstGeom prst="roundRect">
            <a:avLst>
              <a:gd name="adj" fmla="val 6667"/>
            </a:avLst>
          </a:prstGeom>
          <a:solidFill>
            <a:srgbClr val="E8EFFC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49047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OHLCV data is a simplified proxy for true tick-level microstructure.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C9971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25880" y="2542032"/>
            <a:ext cx="9601200" cy="822960"/>
          </a:xfrm>
          <a:prstGeom prst="roundRect">
            <a:avLst>
              <a:gd name="adj" fmla="val 6667"/>
            </a:avLst>
          </a:prstGeom>
          <a:solidFill>
            <a:srgbClr val="E8EFFC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54203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reflect historical patterns only — regimes are not guaranteed to persist.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C9971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25880" y="3593592"/>
            <a:ext cx="9601200" cy="822960"/>
          </a:xfrm>
          <a:prstGeom prst="roundRect">
            <a:avLst>
              <a:gd name="adj" fmla="val 6667"/>
            </a:avLst>
          </a:prstGeom>
          <a:solidFill>
            <a:srgbClr val="E8EFFC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359359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validates same-day structure, not future forecasting.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C9971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25880" y="4645152"/>
            <a:ext cx="9601200" cy="822960"/>
          </a:xfrm>
          <a:prstGeom prst="roundRect">
            <a:avLst>
              <a:gd name="adj" fmla="val 6667"/>
            </a:avLst>
          </a:prstGeom>
          <a:solidFill>
            <a:srgbClr val="E8EFFC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464515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specific to the analyzed ticker and date range.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Stock Market Microstructure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Markov Models for formal regime-switching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33672" y="15087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416552" y="1645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16552" y="21031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next-day forecasting (walk-forward validation)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18704" y="15087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101584" y="1645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01584" y="21031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Multi-asset / sector comparison across NSE stocks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C9971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57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/ tick-level microstructure data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33672" y="35204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C9971F"/>
          </a:solidFill>
          <a:ln/>
        </p:spPr>
      </p:sp>
      <p:sp>
        <p:nvSpPr>
          <p:cNvPr id="17" name="Text 15"/>
          <p:cNvSpPr/>
          <p:nvPr/>
        </p:nvSpPr>
        <p:spPr>
          <a:xfrm>
            <a:off x="4416552" y="3657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16552" y="41148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&amp; news-sentiment feature enrichment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18704" y="35204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C9971F"/>
          </a:solidFill>
          <a:ln/>
        </p:spPr>
      </p:sp>
      <p:sp>
        <p:nvSpPr>
          <p:cNvPr id="20" name="Text 18"/>
          <p:cNvSpPr/>
          <p:nvPr/>
        </p:nvSpPr>
        <p:spPr>
          <a:xfrm>
            <a:off x="8101584" y="3657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101584" y="41148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for non-technical users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Stock Market Microstructure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47472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362956" y="4160520"/>
            <a:ext cx="1463040" cy="0"/>
          </a:xfrm>
          <a:prstGeom prst="line">
            <a:avLst/>
          </a:prstGeom>
          <a:noFill/>
          <a:ln w="25400">
            <a:solidFill>
              <a:srgbClr val="C997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-428625" y="44348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1231</Words>
  <Application>Microsoft Office PowerPoint</Application>
  <PresentationFormat>Widescreen</PresentationFormat>
  <Paragraphs>230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Aditi Asane</cp:lastModifiedBy>
  <cp:revision>2</cp:revision>
  <dcterms:created xsi:type="dcterms:W3CDTF">2026-07-29T10:40:16Z</dcterms:created>
  <dcterms:modified xsi:type="dcterms:W3CDTF">2026-07-29T11:09:43Z</dcterms:modified>
</cp:coreProperties>
</file>